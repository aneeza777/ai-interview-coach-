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22960"/>
            <a:ext cx="10362895" cy="5212080"/>
          </a:xfrm>
          <a:prstGeom prst="roundRect">
            <a:avLst/>
          </a:prstGeom>
          <a:solidFill>
            <a:srgbClr val="161E2E"/>
          </a:solidFill>
          <a:ln w="317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1097280"/>
            <a:ext cx="98142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B981"/>
                </a:solidFill>
              </a:defRPr>
            </a:pPr>
            <a:r>
              <a:t>ALIBABA CLOUD AI HACKATHON PAKISTAN 2026</a:t>
            </a:r>
          </a:p>
          <a:p>
            <a:pPr algn="ctr">
              <a:spcBef>
                <a:spcPts val="1400"/>
              </a:spcBef>
              <a:defRPr sz="4400" b="1">
                <a:solidFill>
                  <a:srgbClr val="F8FAFC"/>
                </a:solidFill>
              </a:defRPr>
            </a:pPr>
            <a:r>
              <a:t>AI Interview Coach</a:t>
            </a:r>
          </a:p>
          <a:p>
            <a:pPr algn="ctr">
              <a:spcBef>
                <a:spcPts val="1000"/>
              </a:spcBef>
              <a:defRPr sz="2000" b="1">
                <a:solidFill>
                  <a:srgbClr val="38BDF8"/>
                </a:solidFill>
              </a:defRPr>
            </a:pPr>
            <a:r>
              <a:t>Multi-Model Voice AI Mock Interview &amp; Career Acceleration Platform</a:t>
            </a:r>
          </a:p>
          <a:p>
            <a:pPr algn="ctr">
              <a:spcBef>
                <a:spcPts val="1600"/>
              </a:spcBef>
              <a:defRPr sz="1500">
                <a:solidFill>
                  <a:srgbClr val="A0AEC0"/>
                </a:solidFill>
              </a:defRPr>
            </a:pPr>
            <a:r>
              <a:t>Democratizing personalized voice-first interview coaching and ATS resume optimization for every job seeker at zero cost.</a:t>
            </a:r>
          </a:p>
          <a:p>
            <a:pPr algn="ctr">
              <a:spcBef>
                <a:spcPts val="2600"/>
              </a:spcBef>
              <a:defRPr sz="1500" b="1">
                <a:solidFill>
                  <a:srgbClr val="A855F7"/>
                </a:solidFill>
              </a:defRPr>
            </a:pPr>
            <a:r>
              <a:t>Team Lead: Aneeza Yasmeen   |   Project ID: P01837   |   Category: Open Innovation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572000" cy="347472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PILLAR 1: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The High-Stakes Technical Hiring Gap in Pakistan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EC0"/>
                </a:solidFill>
              </a:defRPr>
            </a:pPr>
            <a:r>
              <a:t>500,000+ annual university graduates face systemic barriers entering the tech workforce.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28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39111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❌  Crippling Interview Anxiety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92% of candidates experience severe anxiety. Fresh graduates lack a safe, realistic environment to practice verbal articulation under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28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39111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❌  No Objective Audio Feedback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Self-study fails to evaluate acoustic confidence, speaking pace (words/min), speech clarity, or technical relevance against industry rubrics.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28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25112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❌  Prohibitive Human Coach Costs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Professional coaches charge $100–$300/hour, making high-quality personalized mock interview mentorship unaffordable for fresh graduates.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60520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2835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25112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87171"/>
                </a:solidFill>
              </a:defRPr>
            </a:pPr>
            <a:r>
              <a:t>❌  Automated ATS Resume Rejection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Over 75% of qualified applicants are silently filtered out by automated ATS software before reaching an engineer due to missing keywords.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572000" cy="347472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PILLAR 2: SOLUTION &amp;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AI Interview Coach — 360° AI Career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EC0"/>
                </a:solidFill>
              </a:defRPr>
            </a:pPr>
            <a:r>
              <a:t>Designed for CS students, fresh graduates, junior engineers, and university placement cells.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39111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🎙️ Real-Time Voice AI Interviewer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Interactive conversational AI agent generating dynamic questions, listening to voice responses, and providing spoken TTS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39111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🎯 Practice &amp; Pro Mock Modes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Practice Mode offers instant per-question hints and feedback; Pro Mock Mode simulates real-world timed interviews under pressure.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25112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📄 ATS CV Studio &amp; Match Maker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Deep semantic extraction of technical skills, formatting analysis, and JD compatibility matching with actionable STAR bullet recommendations.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60520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25112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0B981"/>
                </a:solidFill>
              </a:defRPr>
            </a:pPr>
            <a:r>
              <a:t>🏆 Verified Skill Certification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Generates cryptographic-ready, printable performance certificates with detailed scoring breakdowns, grading, and growth roadmaps.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572000" cy="347472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PILLAR 3: NEED &amp;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Measurable Outcomes for Candidates and Academia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EC0"/>
                </a:solidFill>
              </a:defRPr>
            </a:pPr>
            <a:r>
              <a:t>Transforming theoretical tech education into interview-ready conversational fluency.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429768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8BDF8"/>
                </a:solidFill>
              </a:defRPr>
            </a:pPr>
            <a:r>
              <a:t>65%+ Increase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In Verbal Confidence</a:t>
            </a:r>
          </a:p>
          <a:p>
            <a:pPr algn="ctr"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Repeated acoustic practice reduces hesitation and filler words within 3 complete mock sessions.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828800"/>
            <a:ext cx="2560320" cy="429768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0574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8BDF8"/>
                </a:solidFill>
              </a:defRPr>
            </a:pPr>
            <a:r>
              <a:t>3x Higher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Interview Pass Rate</a:t>
            </a:r>
          </a:p>
          <a:p>
            <a:pPr algn="ctr"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Candidates master the STAR method (Situation, Task, Action, Result) with AI semantic scoring.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828800"/>
            <a:ext cx="2560320" cy="429768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0574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8BDF8"/>
                </a:solidFill>
              </a:defRPr>
            </a:pPr>
            <a:r>
              <a:t>100% Free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24/7 Accessibility</a:t>
            </a:r>
          </a:p>
          <a:p>
            <a:pPr algn="ctr"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Zero financial barrier to elite career coaching, accessible from any browser on PC or mobile.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828800"/>
            <a:ext cx="2560320" cy="429768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0" y="2057400"/>
            <a:ext cx="2286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38BDF8"/>
                </a:solidFill>
              </a:defRPr>
            </a:pPr>
            <a:r>
              <a:t>B2B Scale</a:t>
            </a:r>
          </a:p>
          <a:p>
            <a:pPr algn="ctr">
              <a:spcBef>
                <a:spcPts val="1000"/>
              </a:spcBef>
              <a:defRPr sz="1600" b="1">
                <a:solidFill>
                  <a:srgbClr val="F8FAFC"/>
                </a:solidFill>
              </a:defRPr>
            </a:pPr>
            <a:r>
              <a:t>University Career Hubs</a:t>
            </a:r>
          </a:p>
          <a:p>
            <a:pPr algn="ctr">
              <a:spcBef>
                <a:spcPts val="1600"/>
              </a:spcBef>
              <a:defRPr sz="1300">
                <a:solidFill>
                  <a:srgbClr val="A0AEC0"/>
                </a:solidFill>
              </a:defRPr>
            </a:pPr>
            <a:r>
              <a:t>Ready for university integration to track student job-readiness metrics at institutional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572000" cy="347472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PILLAR 4: DEEP INNOVATION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Multi-Model AI Architecture &amp; Intelligence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EC0"/>
                </a:solidFill>
              </a:defRPr>
            </a:pPr>
            <a:r>
              <a:t>A cohesive pipeline orchestrating 5 specialized AI models simultaneously.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804672"/>
          </a:xfrm>
          <a:prstGeom prst="roundRect">
            <a:avLst/>
          </a:prstGeom>
          <a:solidFill>
            <a:srgbClr val="161E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A855F7"/>
                </a:solidFill>
              </a:defRPr>
            </a:pPr>
            <a:r>
              <a:t>🎙️ Speech Recognition (STT) — </a:t>
            </a:r>
            <a:r>
              <a:rPr b="0" sz="1350">
                <a:solidFill>
                  <a:srgbClr val="F8FAFC"/>
                </a:solidFill>
              </a:rPr>
              <a:t>OpenAI Whisper model for robust speech transcription with silence detection and filler word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728655" cy="804672"/>
          </a:xfrm>
          <a:prstGeom prst="roundRect">
            <a:avLst/>
          </a:prstGeom>
          <a:solidFill>
            <a:srgbClr val="161E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A855F7"/>
                </a:solidFill>
              </a:defRPr>
            </a:pPr>
            <a:r>
              <a:t>❓ Question Generator (LoRA) — </a:t>
            </a:r>
            <a:r>
              <a:rPr b="0" sz="1350">
                <a:solidFill>
                  <a:srgbClr val="F8FAFC"/>
                </a:solidFill>
              </a:rPr>
              <a:t>Fine-tuned FLAN-T5 with LoRA adapters generating role-specific questions across Beginner, Intermediate, and Advanced tiers.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10728655" cy="804672"/>
          </a:xfrm>
          <a:prstGeom prst="roundRect">
            <a:avLst/>
          </a:prstGeom>
          <a:solidFill>
            <a:srgbClr val="161E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8503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A855F7"/>
                </a:solidFill>
              </a:defRPr>
            </a:pPr>
            <a:r>
              <a:t>📊 Semantic Answer Evaluator — </a:t>
            </a:r>
            <a:r>
              <a:rPr b="0" sz="1350">
                <a:solidFill>
                  <a:srgbClr val="F8FAFC"/>
                </a:solidFill>
              </a:rPr>
              <a:t>Sentence-Transformers (Cosine Similarity) benchmarking candidate answers against gold-standard STAR technical criteria.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10728655" cy="804672"/>
          </a:xfrm>
          <a:prstGeom prst="roundRect">
            <a:avLst/>
          </a:prstGeom>
          <a:solidFill>
            <a:srgbClr val="161E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9943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A855F7"/>
                </a:solidFill>
              </a:defRPr>
            </a:pPr>
            <a:r>
              <a:t>🧠 Neural Confidence Net — </a:t>
            </a:r>
            <a:r>
              <a:rPr b="0" sz="1350">
                <a:solidFill>
                  <a:srgbClr val="F8FAFC"/>
                </a:solidFill>
              </a:rPr>
              <a:t>Custom Multi-Layer Perceptron (MLP) trained on Librosa audio features (MFCCs, spectral contrast, energy, pace).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40680"/>
            <a:ext cx="10728655" cy="804672"/>
          </a:xfrm>
          <a:prstGeom prst="roundRect">
            <a:avLst/>
          </a:prstGeom>
          <a:solidFill>
            <a:srgbClr val="161E2E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1383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A855F7"/>
                </a:solidFill>
              </a:defRPr>
            </a:pPr>
            <a:r>
              <a:t>☁️ Alibaba Cloud Qwen-2.5 — </a:t>
            </a:r>
            <a:r>
              <a:rPr b="0" sz="1350">
                <a:solidFill>
                  <a:srgbClr val="F8FAFC"/>
                </a:solidFill>
              </a:rPr>
              <a:t>Architected for native Qwen-2.5-7B integration via ModelScope for Urdu/English bilingual interview coaching.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572000" cy="347472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PILLAR 5: FEASIBILITY &amp; BUILT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100% Working Production-Grade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EC0"/>
                </a:solidFill>
              </a:defRPr>
            </a:pPr>
            <a:r>
              <a:t>Fully functional full-stack application built and tested with automated verification suites.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728655" cy="804672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5623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0B981"/>
                </a:solidFill>
              </a:defRPr>
            </a:pPr>
            <a:r>
              <a:t>✅ Real-Time Voice Mock Sessions: </a:t>
            </a:r>
            <a:r>
              <a:rPr b="0" sz="1350">
                <a:solidFill>
                  <a:srgbClr val="F8FAFC"/>
                </a:solidFill>
              </a:rPr>
              <a:t>Web Audio API recording, automatic audio conversion, Whisper STT inference, and per-question instant AI feedback.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97480"/>
            <a:ext cx="10728655" cy="804672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7063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0B981"/>
                </a:solidFill>
              </a:defRPr>
            </a:pPr>
            <a:r>
              <a:t>✅ Dynamic 3 / 5 / 10 Question Counts: </a:t>
            </a:r>
            <a:r>
              <a:rPr b="0" sz="1350">
                <a:solidFill>
                  <a:srgbClr val="F8FAFC"/>
                </a:solidFill>
              </a:rPr>
              <a:t>Configurable interview length with intelligent skip-all flow delivering final comprehensive coaching reports.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611880"/>
            <a:ext cx="10728655" cy="804672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8503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0B981"/>
                </a:solidFill>
              </a:defRPr>
            </a:pPr>
            <a:r>
              <a:t>✅ 5 Career Acceleration Tools: </a:t>
            </a:r>
            <a:r>
              <a:rPr b="0" sz="1350">
                <a:solidFill>
                  <a:srgbClr val="F8FAFC"/>
                </a:solidFill>
              </a:rPr>
              <a:t>Interactive ATS Resume Analyzer, JD Skill Matcher Studio, Salary Negotiation Coach, STAR Answer Builder, Coding Assistant.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26280"/>
            <a:ext cx="10728655" cy="804672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59943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0B981"/>
                </a:solidFill>
              </a:defRPr>
            </a:pPr>
            <a:r>
              <a:t>✅ Verified Certificate Generation: </a:t>
            </a:r>
            <a:r>
              <a:rPr b="0" sz="1350">
                <a:solidFill>
                  <a:srgbClr val="F8FAFC"/>
                </a:solidFill>
              </a:rPr>
              <a:t>Cryptographic performance certificates with interactive Print &amp; PDF download functionality for LinkedIn sharing.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440680"/>
            <a:ext cx="10728655" cy="804672"/>
          </a:xfrm>
          <a:prstGeom prst="roundRect">
            <a:avLst/>
          </a:prstGeom>
          <a:solidFill>
            <a:srgbClr val="161E2E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513832"/>
            <a:ext cx="10332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50" b="1">
                <a:solidFill>
                  <a:srgbClr val="10B981"/>
                </a:solidFill>
              </a:defRPr>
            </a:pPr>
            <a:r>
              <a:t>✅ Cloud-Ready Docker Packaging: </a:t>
            </a:r>
            <a:r>
              <a:rPr b="0" sz="1350">
                <a:solidFill>
                  <a:srgbClr val="F8FAFC"/>
                </a:solidFill>
              </a:rPr>
              <a:t>Modular FastAPI backend with SQLite persistence, zero-secrets security compliance, and Dockerfile ready for instant ECS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572000" cy="347472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ALIBABA CLOUD 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Scalable Enterprise Cloud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EC0"/>
                </a:solidFill>
              </a:defRPr>
            </a:pPr>
            <a:r>
              <a:t>Leveraging Alibaba Cloud's ecosystem for cost-effective, high-throughput scaling.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74519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39111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☁️  Alibaba Cloud ECS Deployment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FastAPI backend containerized with Docker, running multi-worker Uvicorn behind Nginx reverse proxy for high concurrency.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874519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039111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☁️  ModelScope &amp; Qwen-2.5 LLM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Seamless integration with Alibaba Cloud's open-weights Qwen-2.5 model for localized bilingual behavioral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60520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4325112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☁️  Elastic Container Instance (ECI)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Serverless container execution for zero-idle-cost scaling during peak campus recruitment interview seasons.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4160520"/>
            <a:ext cx="5257800" cy="2103120"/>
          </a:xfrm>
          <a:prstGeom prst="roundRect">
            <a:avLst/>
          </a:prstGeom>
          <a:solidFill>
            <a:srgbClr val="161E2E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25112"/>
            <a:ext cx="480060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50" b="1">
                <a:solidFill>
                  <a:srgbClr val="38BDF8"/>
                </a:solidFill>
              </a:defRPr>
            </a:pPr>
            <a:r>
              <a:t>☁️  Zero Secrets &amp; Data Privacy</a:t>
            </a:r>
          </a:p>
          <a:p>
            <a:pPr>
              <a:spcBef>
                <a:spcPts val="800"/>
              </a:spcBef>
              <a:defRPr sz="1350">
                <a:solidFill>
                  <a:srgbClr val="F8FAFC"/>
                </a:solidFill>
              </a:defRPr>
            </a:pPr>
            <a:r>
              <a:t>Candidate voice recordings and CVs processed transiently with strict security hygiene and zero persistent credentials.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572000" cy="347472"/>
          </a:xfrm>
          <a:prstGeom prst="roundRect">
            <a:avLst/>
          </a:prstGeom>
          <a:solidFill>
            <a:srgbClr val="161E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HACKATHON SUBMISSION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AI Interview Coach — Summary &amp;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A0AEC0"/>
                </a:solidFill>
              </a:defRPr>
            </a:pPr>
            <a:r>
              <a:t>Ready for live judging and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91640"/>
            <a:ext cx="9997135" cy="4389120"/>
          </a:xfrm>
          <a:prstGeom prst="roundRect">
            <a:avLst/>
          </a:prstGeom>
          <a:solidFill>
            <a:srgbClr val="161E2E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8FAFC"/>
                </a:solidFill>
              </a:defRPr>
            </a:pPr>
            <a:r>
              <a:t>Democratizing Career Preparation for the Next Generation of Tech Leaders.</a:t>
            </a:r>
          </a:p>
          <a:p>
            <a:pPr algn="ctr">
              <a:spcBef>
                <a:spcPts val="2200"/>
              </a:spcBef>
              <a:defRPr sz="1600" b="1">
                <a:solidFill>
                  <a:srgbClr val="10B981"/>
                </a:solidFill>
              </a:defRPr>
            </a:pPr>
            <a:r>
              <a:t>🔗 Public GitHub Repository:</a:t>
            </a:r>
          </a:p>
          <a:p>
            <a:pPr algn="ctr">
              <a:spcBef>
                <a:spcPts val="600"/>
              </a:spcBef>
              <a:defRPr sz="1600" b="1">
                <a:solidFill>
                  <a:srgbClr val="38BDF8"/>
                </a:solidFill>
              </a:defRPr>
            </a:pPr>
            <a:r>
              <a:t>https://github.com/aneeza777/AI-Interview-coach-</a:t>
            </a:r>
          </a:p>
          <a:p>
            <a:pPr algn="ctr">
              <a:spcBef>
                <a:spcPts val="2800"/>
              </a:spcBef>
              <a:defRPr sz="1400">
                <a:solidFill>
                  <a:srgbClr val="A0AEC0"/>
                </a:solidFill>
              </a:defRPr>
            </a:pPr>
            <a:r>
              <a:t>Alibaba Cloud AI Hackathon Pakistan 2026   |   Project ID: P01837   |   Category: Open Innovation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